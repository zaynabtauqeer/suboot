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11612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B2A4A"/>
                </a:solidFill>
                <a:latin typeface="Calibri"/>
              </a:rPr>
              <a:t>Suboot — Business Model Canvas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640080"/>
            <a:ext cx="2212848" cy="1828800"/>
          </a:xfrm>
          <a:prstGeom prst="rect">
            <a:avLst/>
          </a:prstGeom>
          <a:solidFill>
            <a:srgbClr val="FFFFFF"/>
          </a:solidFill>
          <a:ln w="1524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/>
          <a:lstStyle/>
          <a:p>
            <a:pPr algn="ctr"/>
            <a:r>
              <a:rPr sz="1200" b="1">
                <a:solidFill>
                  <a:srgbClr val="0B2A4A"/>
                </a:solidFill>
                <a:latin typeface="Calibri"/>
              </a:rPr>
              <a:t>KEY PARTNERS</a:t>
            </a:r>
          </a:p>
          <a:p>
            <a:r>
              <a:rPr sz="900">
                <a:solidFill>
                  <a:srgbClr val="333333"/>
                </a:solidFill>
                <a:latin typeface="Calibri"/>
              </a:rPr>
              <a:t>• Pakistani teaching hospitals (supply side)</a:t>
            </a:r>
          </a:p>
          <a:p>
            <a:r>
              <a:rPr sz="900">
                <a:solidFill>
                  <a:srgbClr val="333333"/>
                </a:solidFill>
                <a:latin typeface="Calibri"/>
              </a:rPr>
              <a:t>• Global pharma &amp; CROs (buyers)</a:t>
            </a:r>
          </a:p>
          <a:p>
            <a:r>
              <a:rPr sz="900">
                <a:solidFill>
                  <a:srgbClr val="333333"/>
                </a:solidFill>
                <a:latin typeface="Calibri"/>
              </a:rPr>
              <a:t>• Research funders (NIH-type diversity grants)</a:t>
            </a:r>
          </a:p>
        </p:txBody>
      </p:sp>
      <p:sp>
        <p:nvSpPr>
          <p:cNvPr id="4" name="Rectangle 3"/>
          <p:cNvSpPr/>
          <p:nvPr/>
        </p:nvSpPr>
        <p:spPr>
          <a:xfrm>
            <a:off x="2624328" y="640080"/>
            <a:ext cx="2212848" cy="1828800"/>
          </a:xfrm>
          <a:prstGeom prst="rect">
            <a:avLst/>
          </a:prstGeom>
          <a:solidFill>
            <a:srgbClr val="FFFFFF"/>
          </a:solidFill>
          <a:ln w="1524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/>
          <a:lstStyle/>
          <a:p>
            <a:pPr algn="ctr"/>
            <a:r>
              <a:rPr sz="1200" b="1">
                <a:solidFill>
                  <a:srgbClr val="0B2A4A"/>
                </a:solidFill>
                <a:latin typeface="Calibri"/>
              </a:rPr>
              <a:t>KEY ACTIVITIES</a:t>
            </a:r>
          </a:p>
          <a:p>
            <a:r>
              <a:rPr sz="900">
                <a:solidFill>
                  <a:srgbClr val="333333"/>
                </a:solidFill>
                <a:latin typeface="Calibri"/>
              </a:rPr>
              <a:t>• On-site LLM note structuration</a:t>
            </a:r>
          </a:p>
          <a:p>
            <a:r>
              <a:rPr sz="900">
                <a:solidFill>
                  <a:srgbClr val="333333"/>
                </a:solidFill>
                <a:latin typeface="Calibri"/>
              </a:rPr>
              <a:t>• Federated query orchestration</a:t>
            </a:r>
          </a:p>
          <a:p>
            <a:r>
              <a:rPr sz="900">
                <a:solidFill>
                  <a:srgbClr val="333333"/>
                </a:solidFill>
                <a:latin typeface="Calibri"/>
              </a:rPr>
              <a:t>• Ledger verification (ZK proofs)</a:t>
            </a:r>
          </a:p>
          <a:p>
            <a:r>
              <a:rPr sz="900">
                <a:solidFill>
                  <a:srgbClr val="333333"/>
                </a:solidFill>
                <a:latin typeface="Calibri"/>
              </a:rPr>
              <a:t>• Hospital onboarding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4974336" y="640080"/>
            <a:ext cx="2212848" cy="1828800"/>
          </a:xfrm>
          <a:prstGeom prst="rect">
            <a:avLst/>
          </a:prstGeom>
          <a:solidFill>
            <a:srgbClr val="FFFFFF"/>
          </a:solidFill>
          <a:ln w="1524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/>
          <a:lstStyle/>
          <a:p>
            <a:pPr algn="ctr"/>
            <a:r>
              <a:rPr sz="1200" b="1">
                <a:solidFill>
                  <a:srgbClr val="0B2A4A"/>
                </a:solidFill>
                <a:latin typeface="Calibri"/>
              </a:rPr>
              <a:t>KEY RESOURCES</a:t>
            </a:r>
          </a:p>
          <a:p>
            <a:r>
              <a:rPr sz="900">
                <a:solidFill>
                  <a:srgbClr val="333333"/>
                </a:solidFill>
                <a:latin typeface="Calibri"/>
              </a:rPr>
              <a:t>• Urdu/English annotated corpus</a:t>
            </a:r>
          </a:p>
          <a:p>
            <a:r>
              <a:rPr sz="900">
                <a:solidFill>
                  <a:srgbClr val="333333"/>
                </a:solidFill>
                <a:latin typeface="Calibri"/>
              </a:rPr>
              <a:t>• Containerized deployment</a:t>
            </a:r>
          </a:p>
          <a:p>
            <a:r>
              <a:rPr sz="900">
                <a:solidFill>
                  <a:srgbClr val="333333"/>
                </a:solidFill>
                <a:latin typeface="Calibri"/>
              </a:rPr>
              <a:t>• Founder-built stack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7324344" y="640080"/>
            <a:ext cx="2212848" cy="1828800"/>
          </a:xfrm>
          <a:prstGeom prst="rect">
            <a:avLst/>
          </a:prstGeom>
          <a:solidFill>
            <a:srgbClr val="FFFFFF"/>
          </a:solidFill>
          <a:ln w="1524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/>
          <a:lstStyle/>
          <a:p>
            <a:pPr algn="ctr"/>
            <a:r>
              <a:rPr sz="1200" b="1">
                <a:solidFill>
                  <a:srgbClr val="0B2A4A"/>
                </a:solidFill>
                <a:latin typeface="Calibri"/>
              </a:rPr>
              <a:t>VALUE PROPOSITION</a:t>
            </a:r>
          </a:p>
          <a:p>
            <a:r>
              <a:rPr sz="900">
                <a:solidFill>
                  <a:srgbClr val="333333"/>
                </a:solidFill>
                <a:latin typeface="Calibri"/>
              </a:rPr>
              <a:t>• Buyers: regulator-grade proof of real, consented, diverse cohorts — no PHI transfer</a:t>
            </a:r>
          </a:p>
          <a:p>
            <a:r>
              <a:rPr sz="900">
                <a:solidFill>
                  <a:srgbClr val="333333"/>
                </a:solidFill>
                <a:latin typeface="Calibri"/>
              </a:rPr>
              <a:t>• Hospitals: legal monetization of records they can't export</a:t>
            </a:r>
          </a:p>
        </p:txBody>
      </p:sp>
      <p:sp>
        <p:nvSpPr>
          <p:cNvPr id="7" name="Rectangle 6"/>
          <p:cNvSpPr/>
          <p:nvPr/>
        </p:nvSpPr>
        <p:spPr>
          <a:xfrm>
            <a:off x="9674352" y="640080"/>
            <a:ext cx="2212848" cy="1828800"/>
          </a:xfrm>
          <a:prstGeom prst="rect">
            <a:avLst/>
          </a:prstGeom>
          <a:solidFill>
            <a:srgbClr val="FFFFFF"/>
          </a:solidFill>
          <a:ln w="1524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/>
          <a:lstStyle/>
          <a:p>
            <a:pPr algn="ctr"/>
            <a:r>
              <a:rPr sz="1200" b="1">
                <a:solidFill>
                  <a:srgbClr val="0B2A4A"/>
                </a:solidFill>
                <a:latin typeface="Calibri"/>
              </a:rPr>
              <a:t>CUSTOMER RELATIONSHIPS</a:t>
            </a:r>
          </a:p>
          <a:p>
            <a:r>
              <a:rPr sz="900">
                <a:solidFill>
                  <a:srgbClr val="333333"/>
                </a:solidFill>
                <a:latin typeface="Calibri"/>
              </a:rPr>
              <a:t>• Direct BD with pharma RWE heads</a:t>
            </a:r>
          </a:p>
          <a:p>
            <a:r>
              <a:rPr sz="900">
                <a:solidFill>
                  <a:srgbClr val="333333"/>
                </a:solidFill>
                <a:latin typeface="Calibri"/>
              </a:rPr>
              <a:t>• Annual cohort contracts</a:t>
            </a:r>
          </a:p>
          <a:p>
            <a:r>
              <a:rPr sz="900">
                <a:solidFill>
                  <a:srgbClr val="333333"/>
                </a:solidFill>
                <a:latin typeface="Calibri"/>
              </a:rPr>
              <a:t>• Hospital research-office partnerships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578608"/>
            <a:ext cx="2212848" cy="1828800"/>
          </a:xfrm>
          <a:prstGeom prst="rect">
            <a:avLst/>
          </a:prstGeom>
          <a:solidFill>
            <a:srgbClr val="FFFFFF"/>
          </a:solidFill>
          <a:ln w="1524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/>
          <a:lstStyle/>
          <a:p>
            <a:pPr algn="ctr"/>
            <a:r>
              <a:rPr sz="1200" b="1">
                <a:solidFill>
                  <a:srgbClr val="0B2A4A"/>
                </a:solidFill>
                <a:latin typeface="Calibri"/>
              </a:rPr>
              <a:t>COST STRUCTURE</a:t>
            </a:r>
          </a:p>
          <a:p>
            <a:r>
              <a:rPr sz="900">
                <a:solidFill>
                  <a:srgbClr val="333333"/>
                </a:solidFill>
                <a:latin typeface="Calibri"/>
              </a:rPr>
              <a:t>• Cloud + federated infra</a:t>
            </a:r>
          </a:p>
          <a:p>
            <a:r>
              <a:rPr sz="900">
                <a:solidFill>
                  <a:srgbClr val="333333"/>
                </a:solidFill>
                <a:latin typeface="Calibri"/>
              </a:rPr>
              <a:t>• LLM inference</a:t>
            </a:r>
          </a:p>
          <a:p>
            <a:r>
              <a:rPr sz="900">
                <a:solidFill>
                  <a:srgbClr val="333333"/>
                </a:solidFill>
                <a:latin typeface="Calibri"/>
              </a:rPr>
              <a:t>• Founder time (in-house build)</a:t>
            </a:r>
          </a:p>
        </p:txBody>
      </p:sp>
      <p:sp>
        <p:nvSpPr>
          <p:cNvPr id="9" name="Rectangle 8"/>
          <p:cNvSpPr/>
          <p:nvPr/>
        </p:nvSpPr>
        <p:spPr>
          <a:xfrm>
            <a:off x="2624328" y="2578608"/>
            <a:ext cx="2212848" cy="1828800"/>
          </a:xfrm>
          <a:prstGeom prst="rect">
            <a:avLst/>
          </a:prstGeom>
          <a:solidFill>
            <a:srgbClr val="FFFFFF"/>
          </a:solidFill>
          <a:ln w="1524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/>
          <a:lstStyle/>
          <a:p>
            <a:pPr algn="ctr"/>
            <a:r>
              <a:rPr sz="1200" b="1">
                <a:solidFill>
                  <a:srgbClr val="0B2A4A"/>
                </a:solidFill>
                <a:latin typeface="Calibri"/>
              </a:rPr>
              <a:t>REVENUE STREAMS</a:t>
            </a:r>
          </a:p>
          <a:p>
            <a:r>
              <a:rPr sz="900">
                <a:solidFill>
                  <a:srgbClr val="333333"/>
                </a:solidFill>
                <a:latin typeface="Calibri"/>
              </a:rPr>
              <a:t>• Per-receipt pricing $20–50/record</a:t>
            </a:r>
          </a:p>
          <a:p>
            <a:r>
              <a:rPr sz="900">
                <a:solidFill>
                  <a:srgbClr val="333333"/>
                </a:solidFill>
                <a:latin typeface="Calibri"/>
              </a:rPr>
              <a:t>• Annual cohort contracts</a:t>
            </a:r>
          </a:p>
          <a:p>
            <a:r>
              <a:rPr sz="900">
                <a:solidFill>
                  <a:srgbClr val="333333"/>
                </a:solidFill>
                <a:latin typeface="Calibri"/>
              </a:rPr>
              <a:t>• Future: country-standardization licenses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974336" y="2578608"/>
            <a:ext cx="2212848" cy="1828800"/>
          </a:xfrm>
          <a:prstGeom prst="rect">
            <a:avLst/>
          </a:prstGeom>
          <a:solidFill>
            <a:srgbClr val="FFFFFF"/>
          </a:solidFill>
          <a:ln w="1524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/>
          <a:lstStyle/>
          <a:p>
            <a:pPr algn="ctr"/>
            <a:r>
              <a:rPr sz="1200" b="1">
                <a:solidFill>
                  <a:srgbClr val="0B2A4A"/>
                </a:solidFill>
                <a:latin typeface="Calibri"/>
              </a:rPr>
              <a:t>CHANNELS</a:t>
            </a:r>
          </a:p>
          <a:p>
            <a:r>
              <a:rPr sz="900">
                <a:solidFill>
                  <a:srgbClr val="333333"/>
                </a:solidFill>
                <a:latin typeface="Calibri"/>
              </a:rPr>
              <a:t>• Direct outreach to pharma RWE/clinical-ops</a:t>
            </a:r>
          </a:p>
          <a:p>
            <a:r>
              <a:rPr sz="900">
                <a:solidFill>
                  <a:srgbClr val="333333"/>
                </a:solidFill>
                <a:latin typeface="Calibri"/>
              </a:rPr>
              <a:t>• CRO partnerships</a:t>
            </a:r>
          </a:p>
          <a:p>
            <a:r>
              <a:rPr sz="900">
                <a:solidFill>
                  <a:srgbClr val="333333"/>
                </a:solidFill>
                <a:latin typeface="Calibri"/>
              </a:rPr>
              <a:t>• Hospital research networks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24344" y="2578608"/>
            <a:ext cx="2212848" cy="1828800"/>
          </a:xfrm>
          <a:prstGeom prst="rect">
            <a:avLst/>
          </a:prstGeom>
          <a:solidFill>
            <a:srgbClr val="FFFFFF"/>
          </a:solidFill>
          <a:ln w="1524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/>
          <a:lstStyle/>
          <a:p>
            <a:pPr algn="ctr"/>
            <a:r>
              <a:rPr sz="1200" b="1">
                <a:solidFill>
                  <a:srgbClr val="0B2A4A"/>
                </a:solidFill>
                <a:latin typeface="Calibri"/>
              </a:rPr>
              <a:t>CUSTOMER SEGMENTS</a:t>
            </a:r>
          </a:p>
          <a:p>
            <a:r>
              <a:rPr sz="900">
                <a:solidFill>
                  <a:srgbClr val="333333"/>
                </a:solidFill>
                <a:latin typeface="Calibri"/>
              </a:rPr>
              <a:t>• Global pharma with Diversity Action Plans</a:t>
            </a:r>
          </a:p>
          <a:p>
            <a:r>
              <a:rPr sz="900">
                <a:solidFill>
                  <a:srgbClr val="333333"/>
                </a:solidFill>
                <a:latin typeface="Calibri"/>
              </a:rPr>
              <a:t>• CROs running Phase III programs</a:t>
            </a:r>
          </a:p>
          <a:p>
            <a:r>
              <a:rPr sz="900">
                <a:solidFill>
                  <a:srgbClr val="333333"/>
                </a:solidFill>
                <a:latin typeface="Calibri"/>
              </a:rPr>
              <a:t>• Top 20–30 Pakistani teaching hospitals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4517136"/>
            <a:ext cx="2212848" cy="1828800"/>
          </a:xfrm>
          <a:prstGeom prst="rect">
            <a:avLst/>
          </a:prstGeom>
          <a:solidFill>
            <a:srgbClr val="FFFFFF"/>
          </a:solidFill>
          <a:ln w="1524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/>
          <a:lstStyle/>
          <a:p>
            <a:pPr algn="ctr"/>
            <a:r>
              <a:rPr sz="1200" b="1">
                <a:solidFill>
                  <a:srgbClr val="0B2A4A"/>
                </a:solidFill>
                <a:latin typeface="Calibri"/>
              </a:rPr>
              <a:t>CORE METRICS</a:t>
            </a:r>
          </a:p>
          <a:p>
            <a:r>
              <a:rPr sz="900">
                <a:solidFill>
                  <a:srgbClr val="333333"/>
                </a:solidFill>
                <a:latin typeface="Calibri"/>
              </a:rPr>
              <a:t>• Hospitals onboarded</a:t>
            </a:r>
          </a:p>
          <a:p>
            <a:r>
              <a:rPr sz="900">
                <a:solidFill>
                  <a:srgbClr val="333333"/>
                </a:solidFill>
                <a:latin typeface="Calibri"/>
              </a:rPr>
              <a:t>• Verified receipts sold</a:t>
            </a:r>
          </a:p>
          <a:p>
            <a:r>
              <a:rPr sz="900">
                <a:solidFill>
                  <a:srgbClr val="333333"/>
                </a:solidFill>
                <a:latin typeface="Calibri"/>
              </a:rPr>
              <a:t>• Cohorts delivered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24328" y="4517136"/>
            <a:ext cx="2212848" cy="1828800"/>
          </a:xfrm>
          <a:prstGeom prst="rect">
            <a:avLst/>
          </a:prstGeom>
          <a:solidFill>
            <a:srgbClr val="FFFFFF"/>
          </a:solidFill>
          <a:ln w="1524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/>
          <a:lstStyle/>
          <a:p>
            <a:pPr algn="ctr"/>
            <a:r>
              <a:rPr sz="1200" b="1">
                <a:solidFill>
                  <a:srgbClr val="0B2A4A"/>
                </a:solidFill>
                <a:latin typeface="Calibri"/>
              </a:rPr>
              <a:t>SOURCES OF TRUTH</a:t>
            </a:r>
          </a:p>
          <a:p>
            <a:r>
              <a:rPr sz="900">
                <a:solidFill>
                  <a:srgbClr val="333333"/>
                </a:solidFill>
                <a:latin typeface="Calibri"/>
              </a:rPr>
              <a:t>• Append-only audit ledger</a:t>
            </a:r>
          </a:p>
          <a:p>
            <a:r>
              <a:rPr sz="900">
                <a:solidFill>
                  <a:srgbClr val="333333"/>
                </a:solidFill>
                <a:latin typeface="Calibri"/>
              </a:rPr>
              <a:t>• ZK-verified evidence receipts</a:t>
            </a:r>
          </a:p>
          <a:p>
            <a:r>
              <a:rPr sz="900">
                <a:solidFill>
                  <a:srgbClr val="333333"/>
                </a:solidFill>
                <a:latin typeface="Calibri"/>
              </a:rPr>
              <a:t>• OMOP-standardized data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974336" y="4517136"/>
            <a:ext cx="2212848" cy="1828800"/>
          </a:xfrm>
          <a:prstGeom prst="rect">
            <a:avLst/>
          </a:prstGeom>
          <a:solidFill>
            <a:srgbClr val="FFFFFF"/>
          </a:solidFill>
          <a:ln w="1524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/>
          <a:lstStyle/>
          <a:p>
            <a:pPr algn="ctr"/>
            <a:r>
              <a:rPr sz="1200" b="1">
                <a:solidFill>
                  <a:srgbClr val="0B2A4A"/>
                </a:solidFill>
                <a:latin typeface="Calibri"/>
              </a:rPr>
              <a:t>LEGAL &amp; TRUST</a:t>
            </a:r>
          </a:p>
          <a:p>
            <a:r>
              <a:rPr sz="900">
                <a:solidFill>
                  <a:srgbClr val="333333"/>
                </a:solidFill>
                <a:latin typeface="Calibri"/>
              </a:rPr>
              <a:t>• Pakistan PDPA 2025 (no PHI transfer)</a:t>
            </a:r>
          </a:p>
          <a:p>
            <a:r>
              <a:rPr sz="900">
                <a:solidFill>
                  <a:srgbClr val="333333"/>
                </a:solidFill>
                <a:latin typeface="Calibri"/>
              </a:rPr>
              <a:t>• FDA FDORA diversity mandates</a:t>
            </a:r>
          </a:p>
          <a:p>
            <a:r>
              <a:rPr sz="900">
                <a:solidFill>
                  <a:srgbClr val="333333"/>
                </a:solidFill>
                <a:latin typeface="Calibri"/>
              </a:rPr>
              <a:t>• ALCOA+ provenance standards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24344" y="4517136"/>
            <a:ext cx="2212848" cy="1828800"/>
          </a:xfrm>
          <a:prstGeom prst="rect">
            <a:avLst/>
          </a:prstGeom>
          <a:solidFill>
            <a:srgbClr val="FFFFFF"/>
          </a:solidFill>
          <a:ln w="1524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/>
          <a:lstStyle/>
          <a:p>
            <a:pPr algn="ctr"/>
            <a:r>
              <a:rPr sz="1200" b="1">
                <a:solidFill>
                  <a:srgbClr val="0B2A4A"/>
                </a:solidFill>
                <a:latin typeface="Calibri"/>
              </a:rPr>
              <a:t>MOAT</a:t>
            </a:r>
          </a:p>
          <a:p>
            <a:r>
              <a:rPr sz="900">
                <a:solidFill>
                  <a:srgbClr val="333333"/>
                </a:solidFill>
                <a:latin typeface="Calibri"/>
              </a:rPr>
              <a:t>• Local-language corpus</a:t>
            </a:r>
          </a:p>
          <a:p>
            <a:r>
              <a:rPr sz="900">
                <a:solidFill>
                  <a:srgbClr val="333333"/>
                </a:solidFill>
                <a:latin typeface="Calibri"/>
              </a:rPr>
              <a:t>• First-mover hospital network</a:t>
            </a:r>
          </a:p>
          <a:p>
            <a:r>
              <a:rPr sz="900">
                <a:solidFill>
                  <a:srgbClr val="333333"/>
                </a:solidFill>
                <a:latin typeface="Calibri"/>
              </a:rPr>
              <a:t>• Unbuilt-by-incumbent combination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